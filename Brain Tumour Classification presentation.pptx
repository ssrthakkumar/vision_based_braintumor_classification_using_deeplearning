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Black" panose="02000000000000000000" pitchFamily="2" charset="0"/>
      <p:bold r:id="rId26"/>
      <p:boldItalic r:id="rId27"/>
    </p:embeddedFont>
    <p:embeddedFont>
      <p:font typeface="Roboto ExtraBold" panose="020B0604020202020204" charset="0"/>
      <p:bold r:id="rId28"/>
      <p:boldItalic r:id="rId29"/>
    </p:embeddedFont>
    <p:embeddedFont>
      <p:font typeface="Roboto Medium" panose="02000000000000000000" pitchFamily="2" charset="0"/>
      <p:regular r:id="rId30"/>
      <p:bold r:id="rId31"/>
      <p:italic r:id="rId32"/>
      <p:boldItalic r:id="rId33"/>
    </p:embeddedFont>
    <p:embeddedFont>
      <p:font typeface="Roboto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7E7EB0-A343-4003-B1A9-7D5C757E5B43}">
  <a:tblStyle styleId="{977E7EB0-A343-4003-B1A9-7D5C757E5B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viewProps" Target="viewProp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0" name="Google Shape;3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5075" y="4814441"/>
            <a:ext cx="7181850" cy="1059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38250" y="242887"/>
            <a:ext cx="5695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MAJOR PROJECT PRESENTATION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805713" y="1365498"/>
            <a:ext cx="45805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MAJOR PROJECT PRESENTATION ON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345406" y="1717923"/>
            <a:ext cx="9501187" cy="132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Vision-Based Brain Tumor </a:t>
            </a:r>
            <a:r>
              <a:rPr lang="en-US" sz="345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Detection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Using Deep Learning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472112" y="3694360"/>
            <a:ext cx="1247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SUBMITTED BY: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505075" y="4081016"/>
            <a:ext cx="35433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Nitya Soni </a:t>
            </a:r>
            <a:r>
              <a:rPr lang="en-US" sz="1350" b="0" i="0" u="none" strike="noStrike" cap="none" dirty="0">
                <a:solidFill>
                  <a:srgbClr val="C8102E"/>
                </a:solidFill>
                <a:latin typeface="Roboto Medium"/>
                <a:ea typeface="Roboto Medium"/>
                <a:cs typeface="Roboto Medium"/>
                <a:sym typeface="Roboto Medium"/>
              </a:rPr>
              <a:t>(2300971540088)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6143625" y="4081016"/>
            <a:ext cx="35433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  Prakash Narayan </a:t>
            </a:r>
            <a:r>
              <a:rPr lang="en-US" sz="1350" b="0" i="0" u="none" strike="noStrike" cap="none" dirty="0">
                <a:solidFill>
                  <a:srgbClr val="C8102E"/>
                </a:solidFill>
                <a:latin typeface="Roboto Medium"/>
                <a:ea typeface="Roboto Medium"/>
                <a:cs typeface="Roboto Medium"/>
                <a:sym typeface="Roboto Medium"/>
              </a:rPr>
              <a:t>(2300971540090)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2505075" y="4376291"/>
            <a:ext cx="35433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    Prajwal Gupta </a:t>
            </a:r>
            <a:r>
              <a:rPr lang="en-US" sz="1350" b="0" i="0" u="none" strike="noStrike" cap="none" dirty="0">
                <a:solidFill>
                  <a:srgbClr val="C8102E"/>
                </a:solidFill>
                <a:latin typeface="Roboto Medium"/>
                <a:ea typeface="Roboto Medium"/>
                <a:cs typeface="Roboto Medium"/>
                <a:sym typeface="Roboto Medium"/>
              </a:rPr>
              <a:t>(2300971540089)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6143625" y="4376291"/>
            <a:ext cx="35433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Sarthak Kumar </a:t>
            </a:r>
            <a:r>
              <a:rPr lang="en-US" sz="1350" b="0" i="0" u="none" strike="noStrike" cap="none" dirty="0">
                <a:solidFill>
                  <a:srgbClr val="C8102E"/>
                </a:solidFill>
                <a:latin typeface="Roboto Medium"/>
                <a:ea typeface="Roboto Medium"/>
                <a:cs typeface="Roboto Medium"/>
                <a:sym typeface="Roboto Medium"/>
              </a:rPr>
              <a:t>(2300971540117)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2505075" y="5014466"/>
            <a:ext cx="71818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Under the Supervision of Project Guide: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2505075" y="5321051"/>
            <a:ext cx="7181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Dr. Lubna Ansari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2505075" y="5597276"/>
            <a:ext cx="7181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Galgotias College of Engineering &amp; Technology, Greater Noida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238250" y="242887"/>
            <a:ext cx="15192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OUTLINE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Presentation Roadmap</a:t>
            </a:r>
            <a:endParaRPr dirty="0"/>
          </a:p>
        </p:txBody>
      </p:sp>
      <p:sp>
        <p:nvSpPr>
          <p:cNvPr id="107" name="Google Shape;107;p14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04875" y="280987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Clinical Context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4176712" y="280987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Alignment with SDGs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3295650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Problem Statement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4176712" y="3295650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Literature Survey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5" y="378142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Research Gap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4176712" y="378142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Methodology Flow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904875" y="4267200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CNN Architecture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4176712" y="4267200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Result Analysis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904875" y="475297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Conclusion</a:t>
            </a: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4176712" y="4752975"/>
            <a:ext cx="27955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References</a:t>
            </a:r>
            <a:endParaRPr dirty="0"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2299" y="2426935"/>
            <a:ext cx="4724327" cy="34921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8318705" y="5919109"/>
            <a:ext cx="25527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1.1: HUMAN BRAIN NEURO ANATOMY</a:t>
            </a:r>
            <a:endParaRPr dirty="0"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19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3337" y="2819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051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3337" y="33051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90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3337" y="3790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76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3337" y="4276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625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3337" y="47625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56869"/>
            <a:ext cx="5334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238250" y="242887"/>
            <a:ext cx="2705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Clinical Context &amp; The AI Advantage</a:t>
            </a:r>
            <a:endParaRPr dirty="0"/>
          </a:p>
        </p:txBody>
      </p:sp>
      <p:sp>
        <p:nvSpPr>
          <p:cNvPr id="140" name="Google Shape;140;p15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571500" y="2689919"/>
            <a:ext cx="53340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Brain tumours present high mortality risks. MRI is the standard diagnostic tool, but manual interpretation is slow, subjective, and prone to fatigue.</a:t>
            </a:r>
            <a:endParaRPr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809625" y="3891706"/>
            <a:ext cx="515064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Vision-Based Diagnostics</a:t>
            </a:r>
            <a:endParaRPr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809625" y="4196506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Computer-Aided Diagnosis (CAD) using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Convolutional Neural Networks (CNNs)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automates the precise detection of complex variants like Glioma, Meningioma, and Pituitary tumours.</a:t>
            </a:r>
            <a:endParaRPr dirty="0"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7">
            <a:alphaModFix/>
          </a:blip>
          <a:srcRect/>
          <a:stretch/>
        </p:blipFill>
        <p:spPr>
          <a:xfrm>
            <a:off x="6143625" y="2398395"/>
            <a:ext cx="5682615" cy="261726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7741920" y="5280450"/>
            <a:ext cx="2795587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2.1: MULTI-MODAL BRAIN MRI SCANS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67000"/>
            <a:ext cx="533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952875"/>
            <a:ext cx="533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238250" y="242887"/>
            <a:ext cx="28908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SDG ALIGNMENT</a:t>
            </a:r>
            <a:endParaRPr dirty="0"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United Nations Sustainable Development Goals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809625" y="2857500"/>
            <a:ext cx="515064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SDG 3: Good Health &amp; Well-being</a:t>
            </a:r>
            <a:endParaRPr dirty="0"/>
          </a:p>
        </p:txBody>
      </p:sp>
      <p:sp>
        <p:nvSpPr>
          <p:cNvPr id="160" name="Google Shape;160;p16"/>
          <p:cNvSpPr txBox="1"/>
          <p:nvPr/>
        </p:nvSpPr>
        <p:spPr>
          <a:xfrm>
            <a:off x="809625" y="3162300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Enhancing patient survival rates by drastically reducing the turnaround time for critical neuro-oncology diagnoses.</a:t>
            </a:r>
            <a:endParaRPr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809625" y="4143375"/>
            <a:ext cx="515064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SDG 9: Industry &amp; Innovation</a:t>
            </a:r>
            <a:endParaRPr dirty="0"/>
          </a:p>
        </p:txBody>
      </p:sp>
      <p:sp>
        <p:nvSpPr>
          <p:cNvPr id="162" name="Google Shape;162;p16"/>
          <p:cNvSpPr txBox="1"/>
          <p:nvPr/>
        </p:nvSpPr>
        <p:spPr>
          <a:xfrm>
            <a:off x="809625" y="4448175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Modernizing medical infrastructure by integrating reliable, explainable AI into daily healthcare workflows.</a:t>
            </a:r>
            <a:endParaRPr dirty="0"/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7">
            <a:alphaModFix/>
          </a:blip>
          <a:srcRect/>
          <a:stretch/>
        </p:blipFill>
        <p:spPr>
          <a:xfrm>
            <a:off x="6423948" y="2607915"/>
            <a:ext cx="2666713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7308926" y="5054055"/>
            <a:ext cx="1080694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3.1: SDG 3</a:t>
            </a:r>
            <a:endParaRPr dirty="0"/>
          </a:p>
        </p:txBody>
      </p:sp>
      <p:pic>
        <p:nvPicPr>
          <p:cNvPr id="165" name="Google Shape;16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0" y="2607915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9901237" y="5084415"/>
            <a:ext cx="949643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3.2: SDG 9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1238250" y="242887"/>
            <a:ext cx="38623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 dirty="0"/>
          </a:p>
        </p:txBody>
      </p:sp>
      <p:sp>
        <p:nvSpPr>
          <p:cNvPr id="175" name="Google Shape;175;p17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48455" y="1793030"/>
            <a:ext cx="4102203" cy="350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Core Problem: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global shortage of specialized neuro-radiologists </a:t>
            </a:r>
          </a:p>
          <a:p>
            <a:pPr marL="0" marR="0" lvl="0" indent="0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creates a diagnostic bottleneck. Existing AI models fail to gain clinical trust due to their "Black Box" nature.</a:t>
            </a: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25" dirty="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25" dirty="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25" dirty="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25" dirty="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714375" y="3383826"/>
            <a:ext cx="7280910" cy="9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4" b="1" i="0" u="none" strike="noStrike" cap="none" dirty="0">
              <a:solidFill>
                <a:srgbClr val="C8102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4" b="1" dirty="0">
              <a:solidFill>
                <a:srgbClr val="C8102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i="0" u="none" strike="noStrike" cap="none" dirty="0">
              <a:solidFill>
                <a:srgbClr val="C8102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Objectives</a:t>
            </a:r>
            <a:r>
              <a:rPr lang="en-US" sz="1404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889417" y="4554336"/>
            <a:ext cx="108215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 engineer a highly accurate, multi-class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CNN classification system using raw MRI data.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889417" y="5505717"/>
            <a:ext cx="97724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 integrate Explainable AI (Grad-CAM) that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visually justifies the model's predictions to doctors.</a:t>
            </a:r>
            <a:endParaRPr dirty="0"/>
          </a:p>
        </p:txBody>
      </p:sp>
      <p:pic>
        <p:nvPicPr>
          <p:cNvPr id="181" name="Google Shape;181;p17"/>
          <p:cNvPicPr preferRelativeResize="0"/>
          <p:nvPr/>
        </p:nvPicPr>
        <p:blipFill>
          <a:blip r:embed="rId6">
            <a:alphaModFix/>
          </a:blip>
          <a:srcRect l="-1" t="8564" r="364"/>
          <a:stretch>
            <a:fillRect/>
          </a:stretch>
        </p:blipFill>
        <p:spPr>
          <a:xfrm>
            <a:off x="4839803" y="1856144"/>
            <a:ext cx="6992887" cy="387434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7561312" y="5767826"/>
            <a:ext cx="1952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4.1: CLINICAL BOTTLENECK</a:t>
            </a:r>
            <a:endParaRPr dirty="0"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704" y="464758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933" y="555747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238250" y="242887"/>
            <a:ext cx="36147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LITERATURE SURVEY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Benchmarking State-of-the-Art Research</a:t>
            </a:r>
            <a:endParaRPr dirty="0"/>
          </a:p>
        </p:txBody>
      </p:sp>
      <p:sp>
        <p:nvSpPr>
          <p:cNvPr id="193" name="Google Shape;193;p18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18"/>
          <p:cNvGraphicFramePr/>
          <p:nvPr>
            <p:extLst>
              <p:ext uri="{D42A27DB-BD31-4B8C-83A1-F6EECF244321}">
                <p14:modId xmlns:p14="http://schemas.microsoft.com/office/powerpoint/2010/main" val="4107943779"/>
              </p:ext>
            </p:extLst>
          </p:nvPr>
        </p:nvGraphicFramePr>
        <p:xfrm>
          <a:off x="571500" y="2426047"/>
          <a:ext cx="11049000" cy="2590800"/>
        </p:xfrm>
        <a:graphic>
          <a:graphicData uri="http://schemas.openxmlformats.org/drawingml/2006/table">
            <a:tbl>
              <a:tblPr firstRow="1" bandRow="1">
                <a:noFill/>
                <a:tableStyleId>{977E7EB0-A343-4003-B1A9-7D5C757E5B43}</a:tableStyleId>
              </a:tblPr>
              <a:tblGrid>
                <a:gridCol w="286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Researcher (Year)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Architecture Used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Outcome / Accuracy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Pereira et al. (2016)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CNN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precision boundary detection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Sultan et al. (2020)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Customised Multi-class CNN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96.1% Accuracy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Hossain et al. (2022)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VGG16 Transfer Learning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97.5% Accuracy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Amin et al. (2024)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ResNet-50 Feature Extraction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98.2% Accuracy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6" name="Google Shape;196;p18"/>
          <p:cNvSpPr txBox="1"/>
          <p:nvPr/>
        </p:nvSpPr>
        <p:spPr>
          <a:xfrm>
            <a:off x="571500" y="5093047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Key Takeaway: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Transfer learning from pre-trained ImageNet weights is the proven gold standard for limited medical datasets.</a:t>
            </a:r>
            <a:endParaRPr dirty="0"/>
          </a:p>
        </p:txBody>
      </p:sp>
      <p:sp>
        <p:nvSpPr>
          <p:cNvPr id="197" name="Google Shape;197;p18"/>
          <p:cNvSpPr/>
          <p:nvPr/>
        </p:nvSpPr>
        <p:spPr>
          <a:xfrm>
            <a:off x="571500" y="3297584"/>
            <a:ext cx="2860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431678" y="3297584"/>
            <a:ext cx="3791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223521" y="3297584"/>
            <a:ext cx="4396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71500" y="3716684"/>
            <a:ext cx="2860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431678" y="3716684"/>
            <a:ext cx="3791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7223521" y="3716684"/>
            <a:ext cx="4396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71500" y="4135784"/>
            <a:ext cx="2860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431678" y="4135784"/>
            <a:ext cx="3791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7223521" y="4135784"/>
            <a:ext cx="4396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71500" y="4554884"/>
            <a:ext cx="2860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431678" y="4554884"/>
            <a:ext cx="3791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7223521" y="4554884"/>
            <a:ext cx="4396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0750"/>
            <a:ext cx="518922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1467" y="2206189"/>
            <a:ext cx="5867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1238250" y="242887"/>
            <a:ext cx="2705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RESEARCH GAP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Unaddressed Limitations</a:t>
            </a:r>
            <a:endParaRPr dirty="0"/>
          </a:p>
        </p:txBody>
      </p:sp>
      <p:sp>
        <p:nvSpPr>
          <p:cNvPr id="219" name="Google Shape;219;p19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802005" y="2364247"/>
            <a:ext cx="571071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The "Black Box" Challenge</a:t>
            </a:r>
            <a:endParaRPr dirty="0"/>
          </a:p>
        </p:txBody>
      </p:sp>
      <p:sp>
        <p:nvSpPr>
          <p:cNvPr id="222" name="Google Shape;222;p19"/>
          <p:cNvSpPr txBox="1"/>
          <p:nvPr/>
        </p:nvSpPr>
        <p:spPr>
          <a:xfrm>
            <a:off x="802005" y="2730861"/>
            <a:ext cx="495109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High-accuracy models only output a label. Without visual evidence, doctors cannot risk patient lives on blind AI predictions.</a:t>
            </a:r>
            <a:endParaRPr dirty="0"/>
          </a:p>
        </p:txBody>
      </p:sp>
      <p:sp>
        <p:nvSpPr>
          <p:cNvPr id="223" name="Google Shape;223;p19"/>
          <p:cNvSpPr txBox="1"/>
          <p:nvPr/>
        </p:nvSpPr>
        <p:spPr>
          <a:xfrm>
            <a:off x="6119810" y="2364247"/>
            <a:ext cx="571071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   Preprocessing Negligence</a:t>
            </a:r>
            <a:endParaRPr dirty="0"/>
          </a:p>
        </p:txBody>
      </p:sp>
      <p:sp>
        <p:nvSpPr>
          <p:cNvPr id="224" name="Google Shape;224;p19"/>
          <p:cNvSpPr txBox="1"/>
          <p:nvPr/>
        </p:nvSpPr>
        <p:spPr>
          <a:xfrm>
            <a:off x="6255778" y="2728500"/>
            <a:ext cx="5438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Many models skip automated 'Skull Stripping', allowing non-brain tissues to add noise to the feature extraction process.</a:t>
            </a:r>
            <a:endParaRPr dirty="0"/>
          </a:p>
        </p:txBody>
      </p:sp>
      <p:pic>
        <p:nvPicPr>
          <p:cNvPr id="225" name="Google Shape;225;p19"/>
          <p:cNvPicPr preferRelativeResize="0"/>
          <p:nvPr/>
        </p:nvPicPr>
        <p:blipFill>
          <a:blip r:embed="rId7">
            <a:alphaModFix/>
          </a:blip>
          <a:srcRect/>
          <a:stretch/>
        </p:blipFill>
        <p:spPr>
          <a:xfrm>
            <a:off x="2217420" y="3619500"/>
            <a:ext cx="7406640" cy="216506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4765119" y="5996662"/>
            <a:ext cx="3214212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5.1: THE NEED FOR EXPLAINABLE AI (XAI)</a:t>
            </a:r>
            <a:endParaRPr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00250"/>
            <a:ext cx="21336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0350" y="2000250"/>
            <a:ext cx="21336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2000250"/>
            <a:ext cx="21336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50" y="2000250"/>
            <a:ext cx="21336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86900" y="2000250"/>
            <a:ext cx="2133600" cy="100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238250" y="242887"/>
            <a:ext cx="27384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Technical Execution Pipeline</a:t>
            </a:r>
            <a:endParaRPr dirty="0"/>
          </a:p>
        </p:txBody>
      </p:sp>
      <p:sp>
        <p:nvSpPr>
          <p:cNvPr id="240" name="Google Shape;240;p20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>
          <a:blip r:embed="rId9">
            <a:alphaModFix/>
          </a:blip>
          <a:srcRect l="1958" t="10195" r="2160" b="30931"/>
          <a:stretch>
            <a:fillRect/>
          </a:stretch>
        </p:blipFill>
        <p:spPr>
          <a:xfrm>
            <a:off x="1351280" y="3244155"/>
            <a:ext cx="9288145" cy="2852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4933950" y="6120855"/>
            <a:ext cx="2695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6.1: END-TO-END SYSTEM FLOWCHART</a:t>
            </a:r>
            <a:endParaRPr dirty="0"/>
          </a:p>
        </p:txBody>
      </p:sp>
      <p:pic>
        <p:nvPicPr>
          <p:cNvPr id="244" name="Google Shape;24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38287" y="21812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628173" y="2505075"/>
            <a:ext cx="2020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1. DATA</a:t>
            </a:r>
            <a:endParaRPr dirty="0"/>
          </a:p>
        </p:txBody>
      </p:sp>
      <p:sp>
        <p:nvSpPr>
          <p:cNvPr id="246" name="Google Shape;246;p20"/>
          <p:cNvSpPr txBox="1"/>
          <p:nvPr/>
        </p:nvSpPr>
        <p:spPr>
          <a:xfrm>
            <a:off x="676275" y="2705100"/>
            <a:ext cx="19240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FIGSHARE MRI Dataset</a:t>
            </a:r>
            <a:endParaRPr dirty="0"/>
          </a:p>
        </p:txBody>
      </p:sp>
      <p:pic>
        <p:nvPicPr>
          <p:cNvPr id="247" name="Google Shape;24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52850" y="2181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2857023" y="2505075"/>
            <a:ext cx="2020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2. PROCESS</a:t>
            </a:r>
            <a:endParaRPr dirty="0"/>
          </a:p>
        </p:txBody>
      </p:sp>
      <p:sp>
        <p:nvSpPr>
          <p:cNvPr id="249" name="Google Shape;249;p20"/>
          <p:cNvSpPr txBox="1"/>
          <p:nvPr/>
        </p:nvSpPr>
        <p:spPr>
          <a:xfrm>
            <a:off x="2905125" y="2705100"/>
            <a:ext cx="19240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Skull Strip &amp; Hist. EQ</a:t>
            </a:r>
            <a:endParaRPr dirty="0"/>
          </a:p>
        </p:txBody>
      </p:sp>
      <p:pic>
        <p:nvPicPr>
          <p:cNvPr id="250" name="Google Shape;250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1700" y="2181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5085873" y="2505075"/>
            <a:ext cx="2020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3. EXTRACT</a:t>
            </a:r>
            <a:endParaRPr dirty="0"/>
          </a:p>
        </p:txBody>
      </p:sp>
      <p:sp>
        <p:nvSpPr>
          <p:cNvPr id="252" name="Google Shape;252;p20"/>
          <p:cNvSpPr txBox="1"/>
          <p:nvPr/>
        </p:nvSpPr>
        <p:spPr>
          <a:xfrm>
            <a:off x="5133975" y="2705100"/>
            <a:ext cx="19240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ResNet50 Fine-tuning</a:t>
            </a:r>
            <a:endParaRPr dirty="0"/>
          </a:p>
        </p:txBody>
      </p:sp>
      <p:pic>
        <p:nvPicPr>
          <p:cNvPr id="253" name="Google Shape;253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6262" y="21812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7314723" y="2505075"/>
            <a:ext cx="2020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4. XAI</a:t>
            </a:r>
            <a:endParaRPr dirty="0"/>
          </a:p>
        </p:txBody>
      </p:sp>
      <p:sp>
        <p:nvSpPr>
          <p:cNvPr id="255" name="Google Shape;255;p20"/>
          <p:cNvSpPr txBox="1"/>
          <p:nvPr/>
        </p:nvSpPr>
        <p:spPr>
          <a:xfrm>
            <a:off x="7362825" y="2705100"/>
            <a:ext cx="19240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Grad-CAM Localization</a:t>
            </a:r>
            <a:endParaRPr dirty="0"/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467975" y="21812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9543573" y="2505075"/>
            <a:ext cx="2020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5. VERDICT</a:t>
            </a:r>
            <a:endParaRPr dirty="0"/>
          </a:p>
        </p:txBody>
      </p:sp>
      <p:sp>
        <p:nvSpPr>
          <p:cNvPr id="258" name="Google Shape;258;p20"/>
          <p:cNvSpPr txBox="1"/>
          <p:nvPr/>
        </p:nvSpPr>
        <p:spPr>
          <a:xfrm>
            <a:off x="9591675" y="2705100"/>
            <a:ext cx="19240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Final Multi-class Output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1238250" y="242887"/>
            <a:ext cx="26765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 dirty="0"/>
          </a:p>
        </p:txBody>
      </p:sp>
      <p:sp>
        <p:nvSpPr>
          <p:cNvPr id="266" name="Google Shape;266;p21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CNN Architecture Design (ResNet-50)</a:t>
            </a:r>
            <a:endParaRPr dirty="0"/>
          </a:p>
        </p:txBody>
      </p:sp>
      <p:sp>
        <p:nvSpPr>
          <p:cNvPr id="267" name="Google Shape;267;p21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571500" y="2356484"/>
            <a:ext cx="5151120" cy="331089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1943100" y="5715000"/>
            <a:ext cx="2362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7.1: RESIDUAL BLOCK STRUCTURE</a:t>
            </a:r>
            <a:endParaRPr dirty="0"/>
          </a:p>
        </p:txBody>
      </p:sp>
      <p:sp>
        <p:nvSpPr>
          <p:cNvPr id="271" name="Google Shape;271;p21"/>
          <p:cNvSpPr txBox="1"/>
          <p:nvPr/>
        </p:nvSpPr>
        <p:spPr>
          <a:xfrm>
            <a:off x="6619874" y="2271713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Skip Connections: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Successfully mitigates the vanishing gradient problem, allowing the network to learn from 50 deep layers.</a:t>
            </a:r>
            <a:endParaRPr dirty="0"/>
          </a:p>
        </p:txBody>
      </p:sp>
      <p:sp>
        <p:nvSpPr>
          <p:cNvPr id="272" name="Google Shape;272;p21"/>
          <p:cNvSpPr txBox="1"/>
          <p:nvPr/>
        </p:nvSpPr>
        <p:spPr>
          <a:xfrm>
            <a:off x="6619874" y="3449954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Transfer Learning: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Weights pre-initialized from ImageNet to extract complex, high-level medical features instantly.</a:t>
            </a:r>
            <a:endParaRPr dirty="0"/>
          </a:p>
        </p:txBody>
      </p:sp>
      <p:sp>
        <p:nvSpPr>
          <p:cNvPr id="273" name="Google Shape;273;p21"/>
          <p:cNvSpPr txBox="1"/>
          <p:nvPr/>
        </p:nvSpPr>
        <p:spPr>
          <a:xfrm>
            <a:off x="6619873" y="433292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Global Average Pooling: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Replaces dense layers at the end to drastically reduce parameters and prevent overfitting.</a:t>
            </a:r>
            <a:endParaRPr dirty="0"/>
          </a:p>
        </p:txBody>
      </p:sp>
      <p:pic>
        <p:nvPicPr>
          <p:cNvPr id="274" name="Google Shape;27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7450" y="23564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7450" y="35356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7450" y="44672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09750"/>
            <a:ext cx="35559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809750"/>
            <a:ext cx="35559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809750"/>
            <a:ext cx="3556099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1238250" y="242887"/>
            <a:ext cx="309086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 ANALYSIS</a:t>
            </a:r>
            <a:endParaRPr dirty="0"/>
          </a:p>
        </p:txBody>
      </p:sp>
      <p:sp>
        <p:nvSpPr>
          <p:cNvPr id="287" name="Google Shape;287;p22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Performance Metrics &amp; Visual Evidence</a:t>
            </a:r>
            <a:endParaRPr dirty="0"/>
          </a:p>
        </p:txBody>
      </p:sp>
      <p:sp>
        <p:nvSpPr>
          <p:cNvPr id="288" name="Google Shape;288;p22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723900" y="1962150"/>
            <a:ext cx="3251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C8102E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98.1%</a:t>
            </a:r>
            <a:endParaRPr dirty="0"/>
          </a:p>
        </p:txBody>
      </p:sp>
      <p:sp>
        <p:nvSpPr>
          <p:cNvPr id="291" name="Google Shape;291;p22"/>
          <p:cNvSpPr txBox="1"/>
          <p:nvPr/>
        </p:nvSpPr>
        <p:spPr>
          <a:xfrm>
            <a:off x="723900" y="2409825"/>
            <a:ext cx="3251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VALIDATION ACCURACY</a:t>
            </a:r>
            <a:endParaRPr dirty="0"/>
          </a:p>
        </p:txBody>
      </p:sp>
      <p:sp>
        <p:nvSpPr>
          <p:cNvPr id="292" name="Google Shape;292;p22"/>
          <p:cNvSpPr txBox="1"/>
          <p:nvPr/>
        </p:nvSpPr>
        <p:spPr>
          <a:xfrm>
            <a:off x="4470350" y="1962150"/>
            <a:ext cx="3251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C8102E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97.6%</a:t>
            </a:r>
            <a:endParaRPr dirty="0"/>
          </a:p>
        </p:txBody>
      </p:sp>
      <p:sp>
        <p:nvSpPr>
          <p:cNvPr id="293" name="Google Shape;293;p22"/>
          <p:cNvSpPr txBox="1"/>
          <p:nvPr/>
        </p:nvSpPr>
        <p:spPr>
          <a:xfrm>
            <a:off x="4470350" y="2409825"/>
            <a:ext cx="3251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F1-SCORE</a:t>
            </a:r>
            <a:endParaRPr dirty="0"/>
          </a:p>
        </p:txBody>
      </p:sp>
      <p:sp>
        <p:nvSpPr>
          <p:cNvPr id="294" name="Google Shape;294;p22"/>
          <p:cNvSpPr txBox="1"/>
          <p:nvPr/>
        </p:nvSpPr>
        <p:spPr>
          <a:xfrm>
            <a:off x="8216800" y="1962150"/>
            <a:ext cx="32512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C8102E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0.99</a:t>
            </a:r>
            <a:endParaRPr dirty="0"/>
          </a:p>
        </p:txBody>
      </p:sp>
      <p:sp>
        <p:nvSpPr>
          <p:cNvPr id="295" name="Google Shape;295;p22"/>
          <p:cNvSpPr txBox="1"/>
          <p:nvPr/>
        </p:nvSpPr>
        <p:spPr>
          <a:xfrm>
            <a:off x="8216800" y="2409825"/>
            <a:ext cx="325129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AUC-ROC</a:t>
            </a:r>
            <a:endParaRPr dirty="0"/>
          </a:p>
        </p:txBody>
      </p:sp>
      <p:pic>
        <p:nvPicPr>
          <p:cNvPr id="296" name="Google Shape;29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577" y="2955281"/>
            <a:ext cx="3555949" cy="232528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1468337" y="5575399"/>
            <a:ext cx="17621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8.1: CONFUSION MATRIX</a:t>
            </a:r>
            <a:endParaRPr dirty="0"/>
          </a:p>
        </p:txBody>
      </p:sp>
      <p:pic>
        <p:nvPicPr>
          <p:cNvPr id="298" name="Google Shape;298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29112" y="3060057"/>
            <a:ext cx="3439864" cy="2420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5305276" y="5575399"/>
            <a:ext cx="1581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8.2: ROC CURVE PLOT</a:t>
            </a:r>
            <a:endParaRPr dirty="0"/>
          </a:p>
        </p:txBody>
      </p:sp>
      <p:pic>
        <p:nvPicPr>
          <p:cNvPr id="300" name="Google Shape;300;p22"/>
          <p:cNvPicPr preferRelativeResize="0"/>
          <p:nvPr/>
        </p:nvPicPr>
        <p:blipFill>
          <a:blip r:embed="rId11">
            <a:alphaModFix/>
          </a:blip>
          <a:srcRect/>
          <a:stretch/>
        </p:blipFill>
        <p:spPr>
          <a:xfrm>
            <a:off x="8075562" y="3155306"/>
            <a:ext cx="3544937" cy="2420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8961240" y="5560740"/>
            <a:ext cx="20764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8.3: GRAD-CAM XAI HEATMAP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96456"/>
            <a:ext cx="5334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1238250" y="242887"/>
            <a:ext cx="22955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dirty="0"/>
          </a:p>
        </p:txBody>
      </p:sp>
      <p:sp>
        <p:nvSpPr>
          <p:cNvPr id="310" name="Google Shape;310;p23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Final Summary &amp; Clinical Impact</a:t>
            </a:r>
            <a:endParaRPr dirty="0"/>
          </a:p>
        </p:txBody>
      </p:sp>
      <p:sp>
        <p:nvSpPr>
          <p:cNvPr id="311" name="Google Shape;311;p23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571500" y="2594669"/>
            <a:ext cx="53340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Diagnostic Precision: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Our project successfully establishes a highly robust framework for brain tumour classification, achieving an accuracy of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98.1%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314" name="Google Shape;314;p23"/>
          <p:cNvSpPr txBox="1"/>
          <p:nvPr/>
        </p:nvSpPr>
        <p:spPr>
          <a:xfrm>
            <a:off x="809625" y="3986956"/>
            <a:ext cx="515064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8102E"/>
                </a:solidFill>
                <a:latin typeface="Montserrat"/>
                <a:ea typeface="Montserrat"/>
                <a:cs typeface="Montserrat"/>
                <a:sym typeface="Montserrat"/>
              </a:rPr>
              <a:t>Bridging the Trust Gap</a:t>
            </a:r>
            <a:endParaRPr dirty="0"/>
          </a:p>
        </p:txBody>
      </p:sp>
      <p:sp>
        <p:nvSpPr>
          <p:cNvPr id="315" name="Google Shape;315;p23"/>
          <p:cNvSpPr txBox="1"/>
          <p:nvPr/>
        </p:nvSpPr>
        <p:spPr>
          <a:xfrm>
            <a:off x="809625" y="4291756"/>
            <a:ext cx="4905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By integrating Grad-CAM, we moved beyond the "Black Box." Providing visual heatmaps ensures that machine predictions are verifiable, fostering real-world clinical adoption and better patient outcomes.</a:t>
            </a:r>
            <a:endParaRPr dirty="0"/>
          </a:p>
        </p:txBody>
      </p:sp>
      <p:pic>
        <p:nvPicPr>
          <p:cNvPr id="316" name="Google Shape;31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1444376"/>
            <a:ext cx="5124301" cy="470862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7490461" y="5808195"/>
            <a:ext cx="3332722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FIG 9.1: THE FUTURE OF EXPLAINABLE MEDICAL AI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1238250" y="242887"/>
            <a:ext cx="2247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dirty="0"/>
          </a:p>
        </p:txBody>
      </p:sp>
      <p:sp>
        <p:nvSpPr>
          <p:cNvPr id="325" name="Google Shape;325;p24"/>
          <p:cNvSpPr txBox="1"/>
          <p:nvPr/>
        </p:nvSpPr>
        <p:spPr>
          <a:xfrm>
            <a:off x="571500" y="11430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Academic Bibliography</a:t>
            </a:r>
            <a:endParaRPr dirty="0"/>
          </a:p>
        </p:txBody>
      </p:sp>
      <p:sp>
        <p:nvSpPr>
          <p:cNvPr id="326" name="Google Shape;326;p24"/>
          <p:cNvSpPr/>
          <p:nvPr/>
        </p:nvSpPr>
        <p:spPr>
          <a:xfrm>
            <a:off x="571500" y="1590675"/>
            <a:ext cx="11049000" cy="285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904875" y="1905000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Sultan, H. H., et al. (2020). "Multi-classification of brain tumor images using customized CNN," IEEE Access.</a:t>
            </a:r>
            <a:endParaRPr dirty="0"/>
          </a:p>
        </p:txBody>
      </p:sp>
      <p:sp>
        <p:nvSpPr>
          <p:cNvPr id="329" name="Google Shape;329;p24"/>
          <p:cNvSpPr txBox="1"/>
          <p:nvPr/>
        </p:nvSpPr>
        <p:spPr>
          <a:xfrm>
            <a:off x="904875" y="2438400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Pereira, S., et al. (2016). "Brain tumor segmentation using CNN in MRI scans," IEEE TMI.</a:t>
            </a:r>
            <a:endParaRPr dirty="0"/>
          </a:p>
        </p:txBody>
      </p:sp>
      <p:sp>
        <p:nvSpPr>
          <p:cNvPr id="330" name="Google Shape;330;p24"/>
          <p:cNvSpPr txBox="1"/>
          <p:nvPr/>
        </p:nvSpPr>
        <p:spPr>
          <a:xfrm>
            <a:off x="904875" y="2990850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Ronneberger, O., et al. (2015). "U-Net: CNN for biomedical image segmentation," MICCAI.</a:t>
            </a:r>
            <a:endParaRPr dirty="0"/>
          </a:p>
        </p:txBody>
      </p:sp>
      <p:sp>
        <p:nvSpPr>
          <p:cNvPr id="331" name="Google Shape;331;p24"/>
          <p:cNvSpPr txBox="1"/>
          <p:nvPr/>
        </p:nvSpPr>
        <p:spPr>
          <a:xfrm>
            <a:off x="904875" y="3514725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Hossain, M. S., et al. (2022). "CNN based brain tumor classification using MRI," Future Gen. Comp. Systems.</a:t>
            </a:r>
            <a:endParaRPr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904875" y="4028440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Dataset Source: FIGSHARE Brain MRI Repository via Kaggle (2024).</a:t>
            </a:r>
            <a:endParaRPr dirty="0"/>
          </a:p>
        </p:txBody>
      </p:sp>
      <p:pic>
        <p:nvPicPr>
          <p:cNvPr id="333" name="Google Shape;33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2883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3382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00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7215" y="36718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71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37;p24" descr="image.png">
            <a:extLst>
              <a:ext uri="{FF2B5EF4-FFF2-40B4-BE49-F238E27FC236}">
                <a16:creationId xmlns:a16="http://schemas.microsoft.com/office/drawing/2014/main" id="{283AFBA3-3EA3-DF5A-9C69-A7563F27E40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5884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F30710-5A46-4D3A-7CF4-97954BA2BA89}"/>
              </a:ext>
            </a:extLst>
          </p:cNvPr>
          <p:cNvSpPr txBox="1"/>
          <p:nvPr/>
        </p:nvSpPr>
        <p:spPr>
          <a:xfrm>
            <a:off x="781050" y="4672012"/>
            <a:ext cx="87045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sz="1500" dirty="0">
                <a:solidFill>
                  <a:schemeClr val="tx1"/>
                </a:solidFill>
                <a:latin typeface="Roboto SemiBold" panose="020B0604020202020204" charset="0"/>
                <a:ea typeface="Roboto SemiBold" panose="020B0604020202020204" charset="0"/>
              </a:rPr>
              <a:t>H. Mohsen, E. S. A. El-Dahshan, and E. S. M. El-Horbaty, “Classification using deep learning neurFuture Computing and Informatics Journal, vol.</a:t>
            </a:r>
            <a:r>
              <a:rPr lang="en-IN" sz="1600" dirty="0">
                <a:solidFill>
                  <a:schemeClr val="tx1"/>
                </a:solidFill>
              </a:rPr>
              <a:t> 3, no. 1, pp. 68–71, 2018. </a:t>
            </a:r>
          </a:p>
          <a:p>
            <a:endParaRPr lang="en-IN" sz="1500" dirty="0">
              <a:solidFill>
                <a:schemeClr val="tx1"/>
              </a:solidFill>
              <a:latin typeface="Roboto SemiBold" panose="020B0604020202020204" charset="0"/>
              <a:ea typeface="Roboto SemiBold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 txBox="1"/>
          <p:nvPr/>
        </p:nvSpPr>
        <p:spPr>
          <a:xfrm>
            <a:off x="1238250" y="242887"/>
            <a:ext cx="37480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ACKNOWLEDGEMENT</a:t>
            </a:r>
            <a:endParaRPr dirty="0"/>
          </a:p>
        </p:txBody>
      </p:sp>
      <p:pic>
        <p:nvPicPr>
          <p:cNvPr id="345" name="Google Shape;34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95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3090624" y="2165598"/>
            <a:ext cx="6010751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 dirty="0">
                <a:solidFill>
                  <a:srgbClr val="C8102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YOU!</a:t>
            </a:r>
            <a:endParaRPr dirty="0"/>
          </a:p>
        </p:txBody>
      </p:sp>
      <p:sp>
        <p:nvSpPr>
          <p:cNvPr id="348" name="Google Shape;348;p25"/>
          <p:cNvSpPr txBox="1"/>
          <p:nvPr/>
        </p:nvSpPr>
        <p:spPr>
          <a:xfrm>
            <a:off x="3257550" y="4303960"/>
            <a:ext cx="56769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Nitya Soni |Prakash Narayan |Prajwal Gupta |Sarthak Kumar</a:t>
            </a:r>
            <a:endParaRPr dirty="0"/>
          </a:p>
        </p:txBody>
      </p:sp>
      <p:sp>
        <p:nvSpPr>
          <p:cNvPr id="349" name="Google Shape;349;p25"/>
          <p:cNvSpPr txBox="1"/>
          <p:nvPr/>
        </p:nvSpPr>
        <p:spPr>
          <a:xfrm>
            <a:off x="3257550" y="4686746"/>
            <a:ext cx="56769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Galgotias College of Engineering &amp; Technology, Greater Noida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842</Words>
  <Application>Microsoft Office PowerPoint</Application>
  <PresentationFormat>Widescreen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Montserrat ExtraBold</vt:lpstr>
      <vt:lpstr>Roboto</vt:lpstr>
      <vt:lpstr>Roboto Medium</vt:lpstr>
      <vt:lpstr>Calibri</vt:lpstr>
      <vt:lpstr>Roboto SemiBold</vt:lpstr>
      <vt:lpstr>Roboto ExtraBold</vt:lpstr>
      <vt:lpstr>Roboto Black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NITYA SONI</cp:lastModifiedBy>
  <cp:revision>3</cp:revision>
  <dcterms:modified xsi:type="dcterms:W3CDTF">2026-05-25T15:59:24Z</dcterms:modified>
</cp:coreProperties>
</file>